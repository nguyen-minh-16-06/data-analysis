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Play"/>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hHpOtaeV+78M8kJG05/rNM41do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lay-bold.fntdata"/><Relationship Id="rId10" Type="http://schemas.openxmlformats.org/officeDocument/2006/relationships/slide" Target="slides/slide6.xml"/><Relationship Id="rId32" Type="http://schemas.openxmlformats.org/officeDocument/2006/relationships/font" Target="fonts/Play-regular.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a:t>Hiện tại, ngành tài chính bán lẻ đang phải đối mặt với 3 vấn đề cực kỳ lớn:</a:t>
            </a:r>
            <a:endParaRPr/>
          </a:p>
          <a:p>
            <a:pPr indent="0" lvl="0" marL="0" rtl="0" algn="l">
              <a:spcBef>
                <a:spcPts val="0"/>
              </a:spcBef>
              <a:spcAft>
                <a:spcPts val="0"/>
              </a:spcAft>
              <a:buNone/>
            </a:pPr>
            <a:r>
              <a:rPr b="0" lang="en-US"/>
              <a:t>Thứ nhất, đối với mảng tín dụng, đó là câu chuyện nợ xấu. Sự bùng nổ của các nền tảng cho vay khiến lượng hồ sơ đổ về khổng lồ. Ngân hàng cần một bộ lọc tự động phân tích dữ liệu nhân khẩu học để trả lời câu hỏi: Khách hàng này có nguy cơ vỡ nợ hay không trước khi quyết định giải ngân.</a:t>
            </a:r>
            <a:endParaRPr/>
          </a:p>
          <a:p>
            <a:pPr indent="0" lvl="0" marL="0" rtl="0" algn="l">
              <a:spcBef>
                <a:spcPts val="0"/>
              </a:spcBef>
              <a:spcAft>
                <a:spcPts val="0"/>
              </a:spcAft>
              <a:buNone/>
            </a:pPr>
            <a:r>
              <a:rPr b="0" lang="en-US"/>
              <a:t>Thứ hai, ở mảng giao dịch, vấn đề lớn nhất là gian lận thẻ tín dụng. Đặc thù của bài toán này là sự mất cân bằng dữ liệu nghiêm trọng, bởi vì trong hàng triệu giao dịch hợp lệ mới có vài chục giao dịch lừa đảo. Nếu mô hình AI không đủ tinh tế, việc để lọt các gian lận sẽ gây thiệt hại hàng tỷ đô la.</a:t>
            </a:r>
            <a:endParaRPr/>
          </a:p>
          <a:p>
            <a:pPr indent="0" lvl="0" marL="0" rtl="0" algn="l">
              <a:spcBef>
                <a:spcPts val="0"/>
              </a:spcBef>
              <a:spcAft>
                <a:spcPts val="0"/>
              </a:spcAft>
              <a:buNone/>
            </a:pPr>
            <a:r>
              <a:rPr b="0" lang="en-US"/>
              <a:t>Thứ ba, ở mảng dịch vụ khách hàng, đó là nhu cầu quản lý tài sản cá nhân. Rất nhiều người có tiền nhưng không biết đầu tư vào đâu, trong khi chuyên gia tài chính thì không đủ để phục vụ đại chúng. Chúng ta cần một hệ thống thấu hiểu khả năng rủi ro của từng người để tự động hóa việc phân bổ tài sản.</a:t>
            </a:r>
            <a:endParaRPr/>
          </a:p>
          <a:p>
            <a:pPr indent="0" lvl="0" marL="0" rtl="0" algn="l">
              <a:spcBef>
                <a:spcPts val="0"/>
              </a:spcBef>
              <a:spcAft>
                <a:spcPts val="0"/>
              </a:spcAft>
              <a:buNone/>
            </a:pPr>
            <a:r>
              <a:rPr b="0" lang="en-US"/>
              <a:t>=&gt; </a:t>
            </a:r>
            <a:r>
              <a:rPr lang="en-US"/>
              <a:t>Đó chính là lý do đồ án của nhóm ra đời. Nhóm ứng dụng Machine Learning để số hóa toàn diện 3 bài toán này: Chấm điểm tín dụng, Cảnh báo gian lận và Tư vấn tự động bằng Robo-Advisor.</a:t>
            </a:r>
            <a:endParaRPr b="0"/>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14" name="Google Shape;11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54" name="Google Shape;15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61" name="Google Shape;16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70" name="Google Shape;17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83" name="Google Shape;18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91" name="Google Shape;19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199" name="Google Shape;19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07" name="Google Shape;2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15" name="Google Shape;2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23" name="Google Shape;22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31" name="Google Shape;23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38" name="Google Shape;23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a:p>
        </p:txBody>
      </p:sp>
      <p:sp>
        <p:nvSpPr>
          <p:cNvPr id="245" name="Google Shape;2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lang="en-US" sz="1200">
                <a:solidFill>
                  <a:schemeClr val="dk1"/>
                </a:solidFill>
                <a:latin typeface="Arial"/>
                <a:ea typeface="Arial"/>
                <a:cs typeface="Arial"/>
                <a:sym typeface="Arial"/>
              </a:rPr>
              <a:t>Nhìn vào mức độ chấp nhận rủi ro năm 2007, có thể thấy rằng một số lượng đáng kể các cá nhân có mức độ chấp nhận rủi ro gần bằng một, có nghĩa là đầu tư nghiêng nhiều hơn về các tài sản rủi ro so với các tài sản không rủi ro. Bây giờ hãy xem xét mức độ chấp nhận rủi ro năm 2009.</a:t>
            </a:r>
            <a:endParaRPr/>
          </a:p>
          <a:p>
            <a:pPr indent="0" lvl="0" marL="0" rtl="0" algn="l">
              <a:spcBef>
                <a:spcPts val="0"/>
              </a:spcBef>
              <a:spcAft>
                <a:spcPts val="0"/>
              </a:spcAft>
              <a:buNone/>
            </a:pPr>
            <a:r>
              <a:t/>
            </a:r>
            <a:endParaRPr b="0"/>
          </a:p>
        </p:txBody>
      </p:sp>
      <p:sp>
        <p:nvSpPr>
          <p:cNvPr id="252" name="Google Shape;25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sz="1200">
                <a:solidFill>
                  <a:schemeClr val="dk1"/>
                </a:solidFill>
                <a:latin typeface="Arial"/>
                <a:ea typeface="Arial"/>
                <a:cs typeface="Arial"/>
                <a:sym typeface="Arial"/>
              </a:rPr>
              <a:t>Rõ ràng, hành vi của các cá nhân đã đảo ngược vào năm 2009 sau khủng hoảng và phần lớn các khoản đầu tư đều vào các tài sản không rủi ro. Nhìn chung, khả năng chấp nhận rủi ro đã giảm, điều này được thể hiện qua việc phần lớn khả năng chấp nhận rủi ro của họ gần bằng 0 vào năm 2009.</a:t>
            </a:r>
            <a:endParaRPr/>
          </a:p>
          <a:p>
            <a:pPr indent="0" lvl="0" marL="0" rtl="0" algn="l">
              <a:spcBef>
                <a:spcPts val="0"/>
              </a:spcBef>
              <a:spcAft>
                <a:spcPts val="0"/>
              </a:spcAft>
              <a:buNone/>
            </a:pPr>
            <a:r>
              <a:rPr b="0" lang="en-US" sz="1200">
                <a:solidFill>
                  <a:schemeClr val="dk1"/>
                </a:solidFill>
                <a:latin typeface="Arial"/>
                <a:ea typeface="Arial"/>
                <a:cs typeface="Arial"/>
                <a:sym typeface="Arial"/>
              </a:rPr>
              <a:t>Ở bước tiếp theo, nhóm sẽ chọn những nhà đầu tư thông minh có sự thay đổi khả năng chấp nhận rủi ro giữa năm 2007 và 2009 dưới 10%.</a:t>
            </a:r>
            <a:endParaRPr/>
          </a:p>
        </p:txBody>
      </p:sp>
      <p:sp>
        <p:nvSpPr>
          <p:cNvPr id="259" name="Google Shape;25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1200">
              <a:solidFill>
                <a:schemeClr val="dk1"/>
              </a:solidFill>
              <a:latin typeface="Arial"/>
              <a:ea typeface="Arial"/>
              <a:cs typeface="Arial"/>
              <a:sym typeface="Arial"/>
            </a:endParaRPr>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1200">
              <a:solidFill>
                <a:schemeClr val="dk1"/>
              </a:solidFill>
              <a:latin typeface="Arial"/>
              <a:ea typeface="Arial"/>
              <a:cs typeface="Arial"/>
              <a:sym typeface="Arial"/>
            </a:endParaRPr>
          </a:p>
        </p:txBody>
      </p:sp>
      <p:sp>
        <p:nvSpPr>
          <p:cNvPr id="274" name="Google Shape;27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1200">
              <a:solidFill>
                <a:schemeClr val="dk1"/>
              </a:solidFill>
              <a:latin typeface="Arial"/>
              <a:ea typeface="Arial"/>
              <a:cs typeface="Arial"/>
              <a:sym typeface="Arial"/>
            </a:endParaRPr>
          </a:p>
        </p:txBody>
      </p:sp>
      <p:sp>
        <p:nvSpPr>
          <p:cNvPr id="281" name="Google Shape;281;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1200">
              <a:solidFill>
                <a:schemeClr val="dk1"/>
              </a:solidFill>
              <a:latin typeface="Arial"/>
              <a:ea typeface="Arial"/>
              <a:cs typeface="Arial"/>
              <a:sym typeface="Arial"/>
            </a:endParaRPr>
          </a:p>
        </p:txBody>
      </p:sp>
      <p:sp>
        <p:nvSpPr>
          <p:cNvPr id="288" name="Google Shape;28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sz="1200">
              <a:solidFill>
                <a:schemeClr val="dk1"/>
              </a:solidFill>
              <a:latin typeface="Arial"/>
              <a:ea typeface="Arial"/>
              <a:cs typeface="Arial"/>
              <a:sym typeface="Arial"/>
            </a:endParaRPr>
          </a:p>
        </p:txBody>
      </p:sp>
      <p:sp>
        <p:nvSpPr>
          <p:cNvPr id="295" name="Google Shape;29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7"/>
          <p:cNvSpPr/>
          <p:nvPr>
            <p:ph idx="2" type="pic"/>
          </p:nvPr>
        </p:nvSpPr>
        <p:spPr>
          <a:xfrm>
            <a:off x="5183188" y="987425"/>
            <a:ext cx="6172200" cy="4873625"/>
          </a:xfrm>
          <a:prstGeom prst="rect">
            <a:avLst/>
          </a:prstGeom>
          <a:noFill/>
          <a:ln>
            <a:noFill/>
          </a:ln>
        </p:spPr>
      </p:sp>
      <p:sp>
        <p:nvSpPr>
          <p:cNvPr id="68" name="Google Shape;68;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1.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
          <p:cNvSpPr/>
          <p:nvPr/>
        </p:nvSpPr>
        <p:spPr>
          <a:xfrm>
            <a:off x="636760" y="1518775"/>
            <a:ext cx="10918479" cy="1937538"/>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NỀN TẢNG CHẤM ĐIỂM TÍN DỤNG, CẢNH BÁO GIAN LẬN VÀ ROBO-ADVISOR CÁ NHÂN</a:t>
            </a:r>
            <a:endParaRPr b="1" i="0" sz="4000" u="none" cap="none" strike="noStrike">
              <a:solidFill>
                <a:srgbClr val="000000"/>
              </a:solidFill>
              <a:latin typeface="Times New Roman"/>
              <a:ea typeface="Times New Roman"/>
              <a:cs typeface="Times New Roman"/>
              <a:sym typeface="Times New Roman"/>
            </a:endParaRPr>
          </a:p>
        </p:txBody>
      </p:sp>
      <p:sp>
        <p:nvSpPr>
          <p:cNvPr id="90" name="Google Shape;90;p1"/>
          <p:cNvSpPr/>
          <p:nvPr/>
        </p:nvSpPr>
        <p:spPr>
          <a:xfrm>
            <a:off x="2714040" y="3641040"/>
            <a:ext cx="7316280" cy="461160"/>
          </a:xfrm>
          <a:prstGeom prst="rect">
            <a:avLst/>
          </a:prstGeom>
          <a:noFill/>
          <a:ln>
            <a:noFill/>
          </a:ln>
        </p:spPr>
        <p:txBody>
          <a:bodyPr anchorCtr="0" anchor="t" bIns="45000" lIns="90000" spcFirstLastPara="1" rIns="90000" wrap="square" tIns="45000">
            <a:spAutoFit/>
          </a:bodyPr>
          <a:lstStyle/>
          <a:p>
            <a:pPr indent="0" lvl="0" marL="0" marR="0" rtl="0" algn="just">
              <a:lnSpc>
                <a:spcPct val="100000"/>
              </a:lnSpc>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Giảng viên hướng dẫn: </a:t>
            </a:r>
            <a:r>
              <a:rPr b="0" i="0" lang="en-US" sz="2400" u="none" cap="none" strike="noStrike">
                <a:solidFill>
                  <a:schemeClr val="dk1"/>
                </a:solidFill>
                <a:latin typeface="Times New Roman"/>
                <a:ea typeface="Times New Roman"/>
                <a:cs typeface="Times New Roman"/>
                <a:sym typeface="Times New Roman"/>
              </a:rPr>
              <a:t>Hồ Quốc Dũng</a:t>
            </a:r>
            <a:endParaRPr b="0" i="0" sz="2400" u="none" cap="none" strike="noStrike">
              <a:solidFill>
                <a:srgbClr val="000000"/>
              </a:solidFill>
              <a:latin typeface="Times New Roman"/>
              <a:ea typeface="Times New Roman"/>
              <a:cs typeface="Times New Roman"/>
              <a:sym typeface="Times New Roman"/>
            </a:endParaRPr>
          </a:p>
        </p:txBody>
      </p:sp>
      <p:sp>
        <p:nvSpPr>
          <p:cNvPr id="91" name="Google Shape;91;p1"/>
          <p:cNvSpPr/>
          <p:nvPr/>
        </p:nvSpPr>
        <p:spPr>
          <a:xfrm>
            <a:off x="2714040" y="4044240"/>
            <a:ext cx="7316280" cy="1352763"/>
          </a:xfrm>
          <a:prstGeom prst="rect">
            <a:avLst/>
          </a:prstGeom>
          <a:noFill/>
          <a:ln>
            <a:noFill/>
          </a:ln>
        </p:spPr>
        <p:txBody>
          <a:bodyPr anchorCtr="0" anchor="t" bIns="45000" lIns="90000" spcFirstLastPara="1" rIns="90000" wrap="square" tIns="45000">
            <a:spAutoFit/>
          </a:bodyPr>
          <a:lstStyle/>
          <a:p>
            <a:pPr indent="0" lvl="0" marL="0" marR="0" rtl="0" algn="just">
              <a:lnSpc>
                <a:spcPct val="100000"/>
              </a:lnSpc>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Sinh viên thực hiện     : </a:t>
            </a:r>
            <a:r>
              <a:rPr b="0" i="0" lang="en-US" sz="2400" u="none" cap="none" strike="noStrike">
                <a:solidFill>
                  <a:schemeClr val="dk1"/>
                </a:solidFill>
                <a:latin typeface="Times New Roman"/>
                <a:ea typeface="Times New Roman"/>
                <a:cs typeface="Times New Roman"/>
                <a:sym typeface="Times New Roman"/>
              </a:rPr>
              <a:t>Lê Nguyên Minh</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lnSpc>
                <a:spcPct val="100000"/>
              </a:lnSpc>
              <a:spcBef>
                <a:spcPts val="601"/>
              </a:spcBef>
              <a:spcAft>
                <a:spcPts val="0"/>
              </a:spcAft>
              <a:buNone/>
            </a:pPr>
            <a:r>
              <a:rPr b="0" i="0" lang="en-US" sz="2400" u="none" cap="none" strike="noStrike">
                <a:solidFill>
                  <a:schemeClr val="dk1"/>
                </a:solidFill>
                <a:latin typeface="Times New Roman"/>
                <a:ea typeface="Times New Roman"/>
                <a:cs typeface="Times New Roman"/>
                <a:sym typeface="Times New Roman"/>
              </a:rPr>
              <a:t>			                      Nguyễn Chí Hiếu</a:t>
            </a:r>
            <a:endParaRPr b="0" i="0" sz="24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601"/>
              </a:spcBef>
              <a:spcAft>
                <a:spcPts val="0"/>
              </a:spcAft>
              <a:buNone/>
            </a:pPr>
            <a:r>
              <a:rPr b="0" i="0" lang="en-US" sz="2400" u="none" cap="none" strike="noStrike">
                <a:solidFill>
                  <a:srgbClr val="000000"/>
                </a:solidFill>
                <a:latin typeface="Times New Roman"/>
                <a:ea typeface="Times New Roman"/>
                <a:cs typeface="Times New Roman"/>
                <a:sym typeface="Times New Roman"/>
              </a:rPr>
              <a:t>			                      Hoàng Thị Hương Giang</a:t>
            </a:r>
            <a:endParaRPr b="0" i="0" sz="2400" u="none" cap="none" strike="noStrike">
              <a:solidFill>
                <a:schemeClr val="dk1"/>
              </a:solidFill>
              <a:latin typeface="Times New Roman"/>
              <a:ea typeface="Times New Roman"/>
              <a:cs typeface="Times New Roman"/>
              <a:sym typeface="Times New Roman"/>
            </a:endParaRPr>
          </a:p>
        </p:txBody>
      </p:sp>
      <p:sp>
        <p:nvSpPr>
          <p:cNvPr id="92" name="Google Shape;92;p1"/>
          <p:cNvSpPr/>
          <p:nvPr/>
        </p:nvSpPr>
        <p:spPr>
          <a:xfrm>
            <a:off x="7630080" y="5899291"/>
            <a:ext cx="4285695" cy="461160"/>
          </a:xfrm>
          <a:prstGeom prst="rect">
            <a:avLst/>
          </a:prstGeom>
          <a:noFill/>
          <a:ln>
            <a:noFill/>
          </a:ln>
        </p:spPr>
        <p:txBody>
          <a:bodyPr anchorCtr="0" anchor="t" bIns="45000" lIns="90000" spcFirstLastPara="1" rIns="90000" wrap="square" tIns="45000">
            <a:spAutoFit/>
          </a:bodyPr>
          <a:lstStyle/>
          <a:p>
            <a:pPr indent="0" lvl="0" marL="0" marR="0" rtl="0" algn="just">
              <a:lnSpc>
                <a:spcPct val="100000"/>
              </a:lnSpc>
              <a:spcBef>
                <a:spcPts val="0"/>
              </a:spcBef>
              <a:spcAft>
                <a:spcPts val="0"/>
              </a:spcAft>
              <a:buNone/>
            </a:pPr>
            <a:r>
              <a:rPr b="0" i="0" lang="en-US" sz="2400" u="none" cap="none" strike="noStrike">
                <a:solidFill>
                  <a:schemeClr val="dk1"/>
                </a:solidFill>
                <a:latin typeface="Times New Roman"/>
                <a:ea typeface="Times New Roman"/>
                <a:cs typeface="Times New Roman"/>
                <a:sym typeface="Times New Roman"/>
              </a:rPr>
              <a:t>Huế, ngày 27 tháng 06 năm 2026</a:t>
            </a:r>
            <a:endParaRPr b="0"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a:off x="3974382" y="474618"/>
            <a:ext cx="4237200" cy="518400"/>
          </a:xfrm>
          <a:prstGeom prst="rect">
            <a:avLst/>
          </a:prstGeom>
          <a:noFill/>
          <a:ln>
            <a:noFill/>
          </a:ln>
        </p:spPr>
        <p:txBody>
          <a:bodyPr anchorCtr="0" anchor="t" bIns="45700" lIns="91425" spcFirstLastPara="1" rIns="91425" wrap="square" tIns="45700">
            <a:normAutofit lnSpcReduction="9999"/>
          </a:bodyPr>
          <a:lstStyle/>
          <a:p>
            <a:pPr indent="0" lvl="0" marL="0" marR="0" rtl="0" algn="ctr">
              <a:lnSpc>
                <a:spcPct val="90000"/>
              </a:lnSpc>
              <a:spcBef>
                <a:spcPts val="0"/>
              </a:spcBef>
              <a:spcAft>
                <a:spcPts val="0"/>
              </a:spcAft>
              <a:buClr>
                <a:schemeClr val="dk1"/>
              </a:buClr>
              <a:buSzPts val="3200"/>
              <a:buFont typeface="Times New Roman"/>
              <a:buNone/>
            </a:pPr>
            <a:r>
              <a:rPr b="1" i="0" lang="en-US" sz="3200" u="none" cap="none" strike="noStrike">
                <a:solidFill>
                  <a:schemeClr val="dk1"/>
                </a:solidFill>
                <a:latin typeface="Times New Roman"/>
                <a:ea typeface="Times New Roman"/>
                <a:cs typeface="Times New Roman"/>
                <a:sym typeface="Times New Roman"/>
              </a:rPr>
              <a:t>NỘI DUNG</a:t>
            </a:r>
            <a:endParaRPr b="0" i="0" sz="3200" u="none" cap="none" strike="noStrike">
              <a:solidFill>
                <a:schemeClr val="dk1"/>
              </a:solidFill>
              <a:latin typeface="Times New Roman"/>
              <a:ea typeface="Times New Roman"/>
              <a:cs typeface="Times New Roman"/>
              <a:sym typeface="Times New Roman"/>
            </a:endParaRPr>
          </a:p>
        </p:txBody>
      </p:sp>
      <p:sp>
        <p:nvSpPr>
          <p:cNvPr id="98" name="Google Shape;98;p2"/>
          <p:cNvSpPr/>
          <p:nvPr/>
        </p:nvSpPr>
        <p:spPr>
          <a:xfrm>
            <a:off x="2652665" y="1468038"/>
            <a:ext cx="6889687" cy="901080"/>
          </a:xfrm>
          <a:prstGeom prst="rect">
            <a:avLst/>
          </a:prstGeom>
          <a:solidFill>
            <a:srgbClr val="FFFFFF"/>
          </a:solidFill>
          <a:ln cap="flat" cmpd="sng" w="28575">
            <a:solidFill>
              <a:srgbClr val="000000"/>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TỔNG QUAN</a:t>
            </a:r>
            <a:endParaRPr b="0" i="0" sz="2800" u="none" cap="none" strike="noStrike">
              <a:solidFill>
                <a:srgbClr val="000000"/>
              </a:solidFill>
              <a:latin typeface="Times New Roman"/>
              <a:ea typeface="Times New Roman"/>
              <a:cs typeface="Times New Roman"/>
              <a:sym typeface="Times New Roman"/>
            </a:endParaRPr>
          </a:p>
        </p:txBody>
      </p:sp>
      <p:sp>
        <p:nvSpPr>
          <p:cNvPr id="99" name="Google Shape;99;p2"/>
          <p:cNvSpPr/>
          <p:nvPr/>
        </p:nvSpPr>
        <p:spPr>
          <a:xfrm>
            <a:off x="2652665" y="3032778"/>
            <a:ext cx="6889687" cy="901080"/>
          </a:xfrm>
          <a:prstGeom prst="rect">
            <a:avLst/>
          </a:prstGeom>
          <a:solidFill>
            <a:srgbClr val="FFFFFF"/>
          </a:solidFill>
          <a:ln cap="flat" cmpd="sng" w="28575">
            <a:solidFill>
              <a:srgbClr val="000000"/>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NỘI DUNG NGHIÊN CỨU</a:t>
            </a:r>
            <a:endParaRPr b="0" i="0" sz="2800" u="none" cap="none" strike="noStrike">
              <a:solidFill>
                <a:srgbClr val="000000"/>
              </a:solidFill>
              <a:latin typeface="Times New Roman"/>
              <a:ea typeface="Times New Roman"/>
              <a:cs typeface="Times New Roman"/>
              <a:sym typeface="Times New Roman"/>
            </a:endParaRPr>
          </a:p>
        </p:txBody>
      </p:sp>
      <p:sp>
        <p:nvSpPr>
          <p:cNvPr id="100" name="Google Shape;100;p2"/>
          <p:cNvSpPr/>
          <p:nvPr/>
        </p:nvSpPr>
        <p:spPr>
          <a:xfrm>
            <a:off x="2652665" y="4668078"/>
            <a:ext cx="6889687" cy="901080"/>
          </a:xfrm>
          <a:prstGeom prst="rect">
            <a:avLst/>
          </a:prstGeom>
          <a:solidFill>
            <a:srgbClr val="FFFFFF"/>
          </a:solidFill>
          <a:ln cap="flat" cmpd="sng" w="28575">
            <a:solidFill>
              <a:srgbClr val="000000"/>
            </a:solidFill>
            <a:prstDash val="solid"/>
            <a:miter lim="8000"/>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i="0" lang="en-US" sz="2800" u="none" cap="none" strike="noStrike">
                <a:solidFill>
                  <a:schemeClr val="dk1"/>
                </a:solidFill>
                <a:latin typeface="Times New Roman"/>
                <a:ea typeface="Times New Roman"/>
                <a:cs typeface="Times New Roman"/>
                <a:sym typeface="Times New Roman"/>
              </a:rPr>
              <a:t>KẾT LUẬN</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ĐẶT VẤN ĐỀ</a:t>
            </a:r>
            <a:endParaRPr sz="3600">
              <a:latin typeface="Times New Roman"/>
              <a:ea typeface="Times New Roman"/>
              <a:cs typeface="Times New Roman"/>
              <a:sym typeface="Times New Roman"/>
            </a:endParaRPr>
          </a:p>
        </p:txBody>
      </p:sp>
      <p:sp>
        <p:nvSpPr>
          <p:cNvPr id="107" name="Google Shape;107;p3"/>
          <p:cNvSpPr/>
          <p:nvPr/>
        </p:nvSpPr>
        <p:spPr>
          <a:xfrm>
            <a:off x="379378" y="958869"/>
            <a:ext cx="3366711" cy="4406630"/>
          </a:xfrm>
          <a:prstGeom prst="roundRect">
            <a:avLst>
              <a:gd fmla="val 5996" name="adj"/>
            </a:avLst>
          </a:prstGeom>
          <a:no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RỦI RO NỢ XẤU</a:t>
            </a:r>
            <a:endParaRPr/>
          </a:p>
          <a:p>
            <a:pPr indent="0" lvl="0" marL="0" marR="0" rtl="0" algn="just">
              <a:spcBef>
                <a:spcPts val="600"/>
              </a:spcBef>
              <a:spcAft>
                <a:spcPts val="0"/>
              </a:spcAft>
              <a:buNone/>
            </a:pPr>
            <a:r>
              <a:rPr b="0" i="0" lang="en-US" sz="1800" u="none" cap="none" strike="noStrike">
                <a:solidFill>
                  <a:schemeClr val="dk1"/>
                </a:solidFill>
                <a:latin typeface="Arial"/>
                <a:ea typeface="Arial"/>
                <a:cs typeface="Arial"/>
                <a:sym typeface="Arial"/>
              </a:rPr>
              <a:t>- Sự bùng nổ của tính dụng tiêu dung và cho vay ngang hàng</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 Quy trình duyệt vay thủ công chậm trễ. Tỷ lệ nợ xấu, vỡ nợ gia tăng khó kiểm soát.</a:t>
            </a:r>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=&gt; Cần hệ thống chấm điểm tín dụng tự động dựa trên dữ liệu.           </a:t>
            </a:r>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8" name="Google Shape;108;p3"/>
          <p:cNvSpPr/>
          <p:nvPr/>
        </p:nvSpPr>
        <p:spPr>
          <a:xfrm>
            <a:off x="4337686" y="958869"/>
            <a:ext cx="3537953" cy="4406630"/>
          </a:xfrm>
          <a:prstGeom prst="roundRect">
            <a:avLst>
              <a:gd fmla="val 5996" name="adj"/>
            </a:avLst>
          </a:prstGeom>
          <a:no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LỖ HỔNG GIAN LẬN</a:t>
            </a:r>
            <a:endParaRPr/>
          </a:p>
          <a:p>
            <a:pPr indent="0" lvl="0" marL="0" marR="0" rtl="0" algn="just">
              <a:spcBef>
                <a:spcPts val="600"/>
              </a:spcBef>
              <a:spcAft>
                <a:spcPts val="0"/>
              </a:spcAft>
              <a:buNone/>
            </a:pPr>
            <a:r>
              <a:rPr b="0" i="0" lang="en-US" sz="1800" u="none" cap="none" strike="noStrike">
                <a:solidFill>
                  <a:schemeClr val="dk1"/>
                </a:solidFill>
                <a:latin typeface="Arial"/>
                <a:ea typeface="Arial"/>
                <a:cs typeface="Arial"/>
                <a:sym typeface="Arial"/>
              </a:rPr>
              <a:t>- Hàng triệu giao dịch thẻ tín dụng diễn ra mỗi ngày.</a:t>
            </a:r>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 Tội phạm công nghệ cao tinh vi. Các hệ thống cũ thường dễ lọt các giao dịch gian lận do dữ liệu quá mất cân bằng.</a:t>
            </a:r>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=&gt; Cần mô hình AI bắt gian lận theo thời gian thực với tỷ lệ bỏ lọt cực thấp.</a:t>
            </a:r>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09" name="Google Shape;109;p3"/>
          <p:cNvSpPr/>
          <p:nvPr/>
        </p:nvSpPr>
        <p:spPr>
          <a:xfrm>
            <a:off x="8472032" y="958869"/>
            <a:ext cx="3366711" cy="4406630"/>
          </a:xfrm>
          <a:prstGeom prst="roundRect">
            <a:avLst>
              <a:gd fmla="val 5996" name="adj"/>
            </a:avLst>
          </a:prstGeom>
          <a:no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2400" u="none" cap="none" strike="noStrike">
              <a:solidFill>
                <a:schemeClr val="dk1"/>
              </a:solidFill>
              <a:latin typeface="Arial"/>
              <a:ea typeface="Arial"/>
              <a:cs typeface="Arial"/>
              <a:sym typeface="Arial"/>
            </a:endParaRPr>
          </a:p>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NHU CẦU QUẢN LÝ TÀI SẢN</a:t>
            </a:r>
            <a:endParaRPr/>
          </a:p>
          <a:p>
            <a:pPr indent="0" lvl="0" marL="0" marR="0" rtl="0" algn="just">
              <a:spcBef>
                <a:spcPts val="600"/>
              </a:spcBef>
              <a:spcAft>
                <a:spcPts val="0"/>
              </a:spcAft>
              <a:buNone/>
            </a:pPr>
            <a:r>
              <a:rPr b="0" i="0" lang="en-US" sz="1800" u="none" cap="none" strike="noStrike">
                <a:solidFill>
                  <a:schemeClr val="dk1"/>
                </a:solidFill>
                <a:latin typeface="Arial"/>
                <a:ea typeface="Arial"/>
                <a:cs typeface="Arial"/>
                <a:sym typeface="Arial"/>
              </a:rPr>
              <a:t>- Khách hàng cá nhân có nhu cầu đầu tư sinh lời nhưng thiếu kiến thức tài chính.</a:t>
            </a:r>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 Dịch vụ tư vấn truyền thống chỉ dành cho khách VIP và bảng khảo sát rủi ro thủ công thường mang tính chủ quan, sai lệch.</a:t>
            </a:r>
            <a:endParaRPr/>
          </a:p>
          <a:p>
            <a:pPr indent="0" lvl="0" marL="0" marR="0" rtl="0" algn="just">
              <a:spcBef>
                <a:spcPts val="0"/>
              </a:spcBef>
              <a:spcAft>
                <a:spcPts val="0"/>
              </a:spcAft>
              <a:buNone/>
            </a:pPr>
            <a:r>
              <a:rPr b="0" i="0" lang="en-US" sz="1800" u="none" cap="none" strike="noStrike">
                <a:solidFill>
                  <a:schemeClr val="dk1"/>
                </a:solidFill>
                <a:latin typeface="Arial"/>
                <a:ea typeface="Arial"/>
                <a:cs typeface="Arial"/>
                <a:sym typeface="Arial"/>
              </a:rPr>
              <a:t>=&gt; Cần một hệ thống phân tích tâm lý tự động và danh mục đầu tư cá nhân hóa. </a:t>
            </a:r>
            <a:endParaRPr/>
          </a:p>
          <a:p>
            <a:pPr indent="0" lvl="0" marL="0" marR="0" rtl="0" algn="just">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10" name="Google Shape;110;p3"/>
          <p:cNvSpPr txBox="1"/>
          <p:nvPr/>
        </p:nvSpPr>
        <p:spPr>
          <a:xfrm>
            <a:off x="91963" y="5569950"/>
            <a:ext cx="11746780" cy="917009"/>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 Mục tiêu đồ án: Xây dựng nền tảng Consumer Finance ứng dụng học máy giải quyết các bài toán bảo vệ rủi ro, ngăn chặn các gian lận và khả năng sinh lời tự động.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4"/>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NỘI DUNG NGHIÊN CỨU</a:t>
            </a:r>
            <a:endParaRPr sz="3600">
              <a:latin typeface="Times New Roman"/>
              <a:ea typeface="Times New Roman"/>
              <a:cs typeface="Times New Roman"/>
              <a:sym typeface="Times New Roman"/>
            </a:endParaRPr>
          </a:p>
        </p:txBody>
      </p:sp>
      <p:sp>
        <p:nvSpPr>
          <p:cNvPr id="117" name="Google Shape;117;p4"/>
          <p:cNvSpPr/>
          <p:nvPr/>
        </p:nvSpPr>
        <p:spPr>
          <a:xfrm>
            <a:off x="294968" y="1425677"/>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Lending Club</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(Kaggle)</a:t>
            </a:r>
            <a:endParaRPr/>
          </a:p>
        </p:txBody>
      </p:sp>
      <p:sp>
        <p:nvSpPr>
          <p:cNvPr id="118" name="Google Shape;118;p4"/>
          <p:cNvSpPr/>
          <p:nvPr/>
        </p:nvSpPr>
        <p:spPr>
          <a:xfrm>
            <a:off x="3242886" y="1425675"/>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Tiền xử lý dữ liệu</a:t>
            </a:r>
            <a:endParaRPr b="0" i="0" sz="1800" u="none" cap="none" strike="noStrike">
              <a:solidFill>
                <a:schemeClr val="dk1"/>
              </a:solidFill>
              <a:latin typeface="Arial"/>
              <a:ea typeface="Arial"/>
              <a:cs typeface="Arial"/>
              <a:sym typeface="Arial"/>
            </a:endParaRPr>
          </a:p>
        </p:txBody>
      </p:sp>
      <p:sp>
        <p:nvSpPr>
          <p:cNvPr id="119" name="Google Shape;119;p4"/>
          <p:cNvSpPr/>
          <p:nvPr/>
        </p:nvSpPr>
        <p:spPr>
          <a:xfrm>
            <a:off x="2580088" y="1602658"/>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0" name="Google Shape;120;p4"/>
          <p:cNvSpPr/>
          <p:nvPr/>
        </p:nvSpPr>
        <p:spPr>
          <a:xfrm>
            <a:off x="6190804" y="1425675"/>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Gradient Boosting</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Random Forest</a:t>
            </a:r>
            <a:endParaRPr/>
          </a:p>
        </p:txBody>
      </p:sp>
      <p:sp>
        <p:nvSpPr>
          <p:cNvPr id="121" name="Google Shape;121;p4"/>
          <p:cNvSpPr/>
          <p:nvPr/>
        </p:nvSpPr>
        <p:spPr>
          <a:xfrm>
            <a:off x="9138722" y="1425673"/>
            <a:ext cx="2880851"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Pipeline dự báo % vỡ nợ</a:t>
            </a:r>
            <a:endParaRPr b="0" i="0" sz="1800" u="none" cap="none" strike="noStrike">
              <a:solidFill>
                <a:schemeClr val="dk1"/>
              </a:solidFill>
              <a:latin typeface="Arial"/>
              <a:ea typeface="Arial"/>
              <a:cs typeface="Arial"/>
              <a:sym typeface="Arial"/>
            </a:endParaRPr>
          </a:p>
        </p:txBody>
      </p:sp>
      <p:sp>
        <p:nvSpPr>
          <p:cNvPr id="122" name="Google Shape;122;p4"/>
          <p:cNvSpPr/>
          <p:nvPr/>
        </p:nvSpPr>
        <p:spPr>
          <a:xfrm>
            <a:off x="8475924" y="1602656"/>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3" name="Google Shape;123;p4"/>
          <p:cNvSpPr/>
          <p:nvPr/>
        </p:nvSpPr>
        <p:spPr>
          <a:xfrm>
            <a:off x="5528006" y="1641984"/>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4" name="Google Shape;124;p4"/>
          <p:cNvSpPr/>
          <p:nvPr/>
        </p:nvSpPr>
        <p:spPr>
          <a:xfrm>
            <a:off x="294968" y="2981227"/>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Credit Card Data</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(Kaggle)</a:t>
            </a:r>
            <a:endParaRPr/>
          </a:p>
        </p:txBody>
      </p:sp>
      <p:sp>
        <p:nvSpPr>
          <p:cNvPr id="125" name="Google Shape;125;p4"/>
          <p:cNvSpPr/>
          <p:nvPr/>
        </p:nvSpPr>
        <p:spPr>
          <a:xfrm>
            <a:off x="3242886" y="2981225"/>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Tiền xử lý dữ liệu</a:t>
            </a:r>
            <a:endParaRPr b="0" i="0" sz="1800" u="none" cap="none" strike="noStrike">
              <a:solidFill>
                <a:schemeClr val="dk1"/>
              </a:solidFill>
              <a:latin typeface="Arial"/>
              <a:ea typeface="Arial"/>
              <a:cs typeface="Arial"/>
              <a:sym typeface="Arial"/>
            </a:endParaRPr>
          </a:p>
        </p:txBody>
      </p:sp>
      <p:sp>
        <p:nvSpPr>
          <p:cNvPr id="126" name="Google Shape;126;p4"/>
          <p:cNvSpPr/>
          <p:nvPr/>
        </p:nvSpPr>
        <p:spPr>
          <a:xfrm>
            <a:off x="2580088" y="3158208"/>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7" name="Google Shape;127;p4"/>
          <p:cNvSpPr/>
          <p:nvPr/>
        </p:nvSpPr>
        <p:spPr>
          <a:xfrm>
            <a:off x="6190804" y="2981225"/>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GBM / LDA </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(tối ưu Recall)</a:t>
            </a:r>
            <a:endParaRPr/>
          </a:p>
        </p:txBody>
      </p:sp>
      <p:sp>
        <p:nvSpPr>
          <p:cNvPr id="128" name="Google Shape;128;p4"/>
          <p:cNvSpPr/>
          <p:nvPr/>
        </p:nvSpPr>
        <p:spPr>
          <a:xfrm>
            <a:off x="9138722" y="2851355"/>
            <a:ext cx="2880851" cy="979772"/>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Mô hình cảnh báo giao dịch theo thời giạn thực</a:t>
            </a:r>
            <a:endParaRPr b="0" i="0" sz="1800" u="none" cap="none" strike="noStrike">
              <a:solidFill>
                <a:schemeClr val="dk1"/>
              </a:solidFill>
              <a:latin typeface="Arial"/>
              <a:ea typeface="Arial"/>
              <a:cs typeface="Arial"/>
              <a:sym typeface="Arial"/>
            </a:endParaRPr>
          </a:p>
        </p:txBody>
      </p:sp>
      <p:sp>
        <p:nvSpPr>
          <p:cNvPr id="129" name="Google Shape;129;p4"/>
          <p:cNvSpPr/>
          <p:nvPr/>
        </p:nvSpPr>
        <p:spPr>
          <a:xfrm>
            <a:off x="8475924" y="3158206"/>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0" name="Google Shape;130;p4"/>
          <p:cNvSpPr/>
          <p:nvPr/>
        </p:nvSpPr>
        <p:spPr>
          <a:xfrm>
            <a:off x="5528006" y="3197534"/>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1" name="Google Shape;131;p4"/>
          <p:cNvSpPr/>
          <p:nvPr/>
        </p:nvSpPr>
        <p:spPr>
          <a:xfrm>
            <a:off x="294968" y="4536777"/>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Khảo sát SCF</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(FED)</a:t>
            </a:r>
            <a:endParaRPr/>
          </a:p>
        </p:txBody>
      </p:sp>
      <p:sp>
        <p:nvSpPr>
          <p:cNvPr id="132" name="Google Shape;132;p4"/>
          <p:cNvSpPr/>
          <p:nvPr/>
        </p:nvSpPr>
        <p:spPr>
          <a:xfrm>
            <a:off x="3242886" y="4536775"/>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Tiền xử lý dữ liệu</a:t>
            </a:r>
            <a:endParaRPr b="0" i="0" sz="1800" u="none" cap="none" strike="noStrike">
              <a:solidFill>
                <a:schemeClr val="dk1"/>
              </a:solidFill>
              <a:latin typeface="Arial"/>
              <a:ea typeface="Arial"/>
              <a:cs typeface="Arial"/>
              <a:sym typeface="Arial"/>
            </a:endParaRPr>
          </a:p>
        </p:txBody>
      </p:sp>
      <p:sp>
        <p:nvSpPr>
          <p:cNvPr id="133" name="Google Shape;133;p4"/>
          <p:cNvSpPr/>
          <p:nvPr/>
        </p:nvSpPr>
        <p:spPr>
          <a:xfrm>
            <a:off x="2580088" y="4713758"/>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4" name="Google Shape;134;p4"/>
          <p:cNvSpPr/>
          <p:nvPr/>
        </p:nvSpPr>
        <p:spPr>
          <a:xfrm>
            <a:off x="6190804" y="4536775"/>
            <a:ext cx="3052036"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K-Means (Phân cụm)</a:t>
            </a:r>
            <a:endParaRPr/>
          </a:p>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RF Regressor (Dự đoán rủi ro)</a:t>
            </a:r>
            <a:endParaRPr/>
          </a:p>
        </p:txBody>
      </p:sp>
      <p:sp>
        <p:nvSpPr>
          <p:cNvPr id="135" name="Google Shape;135;p4"/>
          <p:cNvSpPr/>
          <p:nvPr/>
        </p:nvSpPr>
        <p:spPr>
          <a:xfrm>
            <a:off x="9905638" y="4524887"/>
            <a:ext cx="2113935" cy="721291"/>
          </a:xfrm>
          <a:prstGeom prst="rect">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rial"/>
                <a:ea typeface="Arial"/>
                <a:cs typeface="Arial"/>
                <a:sym typeface="Arial"/>
              </a:rPr>
              <a:t>Dash Robo-Advisor</a:t>
            </a:r>
            <a:endParaRPr/>
          </a:p>
        </p:txBody>
      </p:sp>
      <p:sp>
        <p:nvSpPr>
          <p:cNvPr id="136" name="Google Shape;136;p4"/>
          <p:cNvSpPr/>
          <p:nvPr/>
        </p:nvSpPr>
        <p:spPr>
          <a:xfrm>
            <a:off x="9328432" y="4703292"/>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7" name="Google Shape;137;p4"/>
          <p:cNvSpPr/>
          <p:nvPr/>
        </p:nvSpPr>
        <p:spPr>
          <a:xfrm>
            <a:off x="5528006" y="4753084"/>
            <a:ext cx="491613" cy="373626"/>
          </a:xfrm>
          <a:prstGeom prst="rightArrow">
            <a:avLst>
              <a:gd fmla="val 50000" name="adj1"/>
              <a:gd fmla="val 50000" name="adj2"/>
            </a:avLst>
          </a:prstGeom>
          <a:solidFill>
            <a:schemeClr val="dk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1: DỰ BÁO VỠ NỢ TÍN DỤNG</a:t>
            </a:r>
            <a:endParaRPr/>
          </a:p>
        </p:txBody>
      </p:sp>
      <p:sp>
        <p:nvSpPr>
          <p:cNvPr id="144" name="Google Shape;144;p5"/>
          <p:cNvSpPr/>
          <p:nvPr/>
        </p:nvSpPr>
        <p:spPr>
          <a:xfrm>
            <a:off x="466199" y="2257231"/>
            <a:ext cx="3770669" cy="2343537"/>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THÁCH THỨC</a:t>
            </a:r>
            <a:endParaRPr/>
          </a:p>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Tập dữ liệu khổng lồ (887.000 mẫu, 150 đặc trưng) chứa nhiều nhiễu và khoảng trống.</a:t>
            </a:r>
            <a:endParaRPr b="0" i="0" sz="1800" u="none" cap="none" strike="noStrike">
              <a:solidFill>
                <a:schemeClr val="dk1"/>
              </a:solidFill>
              <a:latin typeface="Arial"/>
              <a:ea typeface="Arial"/>
              <a:cs typeface="Arial"/>
              <a:sym typeface="Arial"/>
            </a:endParaRPr>
          </a:p>
        </p:txBody>
      </p:sp>
      <p:sp>
        <p:nvSpPr>
          <p:cNvPr id="145" name="Google Shape;145;p5"/>
          <p:cNvSpPr/>
          <p:nvPr/>
        </p:nvSpPr>
        <p:spPr>
          <a:xfrm>
            <a:off x="7404526" y="958869"/>
            <a:ext cx="3381461" cy="1298362"/>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Xóa các đặc trưng có tỷ lệ khuyết dữ liệu &gt; 80%</a:t>
            </a:r>
            <a:endParaRPr/>
          </a:p>
        </p:txBody>
      </p:sp>
      <p:cxnSp>
        <p:nvCxnSpPr>
          <p:cNvPr id="146" name="Google Shape;146;p5"/>
          <p:cNvCxnSpPr/>
          <p:nvPr/>
        </p:nvCxnSpPr>
        <p:spPr>
          <a:xfrm flipH="1" rot="10800000">
            <a:off x="4513006" y="1608050"/>
            <a:ext cx="2497394" cy="781189"/>
          </a:xfrm>
          <a:prstGeom prst="straightConnector1">
            <a:avLst/>
          </a:prstGeom>
          <a:noFill/>
          <a:ln cap="flat" cmpd="sng" w="57150">
            <a:solidFill>
              <a:schemeClr val="dk1"/>
            </a:solidFill>
            <a:prstDash val="solid"/>
            <a:miter lim="8000"/>
            <a:headEnd len="sm" w="sm" type="none"/>
            <a:tailEnd len="med" w="med" type="triangle"/>
          </a:ln>
        </p:spPr>
      </p:cxnSp>
      <p:cxnSp>
        <p:nvCxnSpPr>
          <p:cNvPr id="147" name="Google Shape;147;p5"/>
          <p:cNvCxnSpPr/>
          <p:nvPr/>
        </p:nvCxnSpPr>
        <p:spPr>
          <a:xfrm>
            <a:off x="4513006" y="3428999"/>
            <a:ext cx="2497394" cy="0"/>
          </a:xfrm>
          <a:prstGeom prst="straightConnector1">
            <a:avLst/>
          </a:prstGeom>
          <a:noFill/>
          <a:ln cap="flat" cmpd="sng" w="57150">
            <a:solidFill>
              <a:schemeClr val="dk1"/>
            </a:solidFill>
            <a:prstDash val="solid"/>
            <a:miter lim="8000"/>
            <a:headEnd len="sm" w="sm" type="none"/>
            <a:tailEnd len="med" w="med" type="triangle"/>
          </a:ln>
        </p:spPr>
      </p:cxnSp>
      <p:sp>
        <p:nvSpPr>
          <p:cNvPr id="148" name="Google Shape;148;p5"/>
          <p:cNvSpPr/>
          <p:nvPr/>
        </p:nvSpPr>
        <p:spPr>
          <a:xfrm>
            <a:off x="7404526" y="2779818"/>
            <a:ext cx="3381461" cy="1298362"/>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Dùng Ma trận tương quan loại bỏ biến có độ tương quan &lt; 0.03</a:t>
            </a:r>
            <a:endParaRPr/>
          </a:p>
        </p:txBody>
      </p:sp>
      <p:sp>
        <p:nvSpPr>
          <p:cNvPr id="149" name="Google Shape;149;p5"/>
          <p:cNvSpPr/>
          <p:nvPr/>
        </p:nvSpPr>
        <p:spPr>
          <a:xfrm>
            <a:off x="7404526" y="4600769"/>
            <a:ext cx="3381461" cy="1298362"/>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 Xoá các đặc trưng không có ý nghĩa dự báo lúc xét duyệt vay</a:t>
            </a:r>
            <a:endParaRPr b="0" i="0" sz="2400" u="none" cap="none" strike="noStrike">
              <a:solidFill>
                <a:schemeClr val="dk1"/>
              </a:solidFill>
              <a:latin typeface="Arial"/>
              <a:ea typeface="Arial"/>
              <a:cs typeface="Arial"/>
              <a:sym typeface="Arial"/>
            </a:endParaRPr>
          </a:p>
        </p:txBody>
      </p:sp>
      <p:cxnSp>
        <p:nvCxnSpPr>
          <p:cNvPr id="150" name="Google Shape;150;p5"/>
          <p:cNvCxnSpPr/>
          <p:nvPr/>
        </p:nvCxnSpPr>
        <p:spPr>
          <a:xfrm>
            <a:off x="4513006" y="4600768"/>
            <a:ext cx="2497394" cy="777477"/>
          </a:xfrm>
          <a:prstGeom prst="straightConnector1">
            <a:avLst/>
          </a:prstGeom>
          <a:noFill/>
          <a:ln cap="flat" cmpd="sng" w="57150">
            <a:solidFill>
              <a:schemeClr val="dk1"/>
            </a:solidFill>
            <a:prstDash val="solid"/>
            <a:miter lim="8000"/>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1: DỰ BÁO VỠ NỢ TÍN DỤNG</a:t>
            </a:r>
            <a:endParaRPr/>
          </a:p>
        </p:txBody>
      </p:sp>
      <p:pic>
        <p:nvPicPr>
          <p:cNvPr id="157" name="Google Shape;157;p6"/>
          <p:cNvPicPr preferRelativeResize="0"/>
          <p:nvPr/>
        </p:nvPicPr>
        <p:blipFill rotWithShape="1">
          <a:blip r:embed="rId3">
            <a:alphaModFix/>
          </a:blip>
          <a:srcRect b="0" l="0" r="0" t="0"/>
          <a:stretch/>
        </p:blipFill>
        <p:spPr>
          <a:xfrm>
            <a:off x="195195" y="2089855"/>
            <a:ext cx="11801609" cy="267828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1: DỰ BÁO VỠ NỢ TÍN DỤNG</a:t>
            </a:r>
            <a:endParaRPr/>
          </a:p>
        </p:txBody>
      </p:sp>
      <p:pic>
        <p:nvPicPr>
          <p:cNvPr id="164" name="Google Shape;164;p7"/>
          <p:cNvPicPr preferRelativeResize="0"/>
          <p:nvPr/>
        </p:nvPicPr>
        <p:blipFill rotWithShape="1">
          <a:blip r:embed="rId3">
            <a:alphaModFix/>
          </a:blip>
          <a:srcRect b="0" l="0" r="0" t="0"/>
          <a:stretch/>
        </p:blipFill>
        <p:spPr>
          <a:xfrm>
            <a:off x="1253948" y="793042"/>
            <a:ext cx="9684103" cy="5271915"/>
          </a:xfrm>
          <a:prstGeom prst="rect">
            <a:avLst/>
          </a:prstGeom>
          <a:noFill/>
          <a:ln>
            <a:noFill/>
          </a:ln>
        </p:spPr>
      </p:pic>
      <p:pic>
        <p:nvPicPr>
          <p:cNvPr id="165" name="Google Shape;165;p7"/>
          <p:cNvPicPr preferRelativeResize="0"/>
          <p:nvPr/>
        </p:nvPicPr>
        <p:blipFill rotWithShape="1">
          <a:blip r:embed="rId4">
            <a:alphaModFix/>
          </a:blip>
          <a:srcRect b="0" l="0" r="0" t="0"/>
          <a:stretch/>
        </p:blipFill>
        <p:spPr>
          <a:xfrm>
            <a:off x="1253948" y="793041"/>
            <a:ext cx="9684102" cy="5271915"/>
          </a:xfrm>
          <a:prstGeom prst="rect">
            <a:avLst/>
          </a:prstGeom>
          <a:noFill/>
          <a:ln>
            <a:noFill/>
          </a:ln>
        </p:spPr>
      </p:pic>
      <p:pic>
        <p:nvPicPr>
          <p:cNvPr id="166" name="Google Shape;166;p7"/>
          <p:cNvPicPr preferRelativeResize="0"/>
          <p:nvPr/>
        </p:nvPicPr>
        <p:blipFill rotWithShape="1">
          <a:blip r:embed="rId5">
            <a:alphaModFix/>
          </a:blip>
          <a:srcRect b="0" l="0" r="0" t="0"/>
          <a:stretch/>
        </p:blipFill>
        <p:spPr>
          <a:xfrm>
            <a:off x="680280" y="793040"/>
            <a:ext cx="10831437" cy="52719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0" y="0"/>
            <a:ext cx="12192000"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2: PHÁT HIỆN GIAO DỊCH GIAN LẬN</a:t>
            </a:r>
            <a:endParaRPr/>
          </a:p>
        </p:txBody>
      </p:sp>
      <p:sp>
        <p:nvSpPr>
          <p:cNvPr id="173" name="Google Shape;173;p8"/>
          <p:cNvSpPr/>
          <p:nvPr/>
        </p:nvSpPr>
        <p:spPr>
          <a:xfrm>
            <a:off x="466199" y="2257231"/>
            <a:ext cx="3770669" cy="2343537"/>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400" u="none" cap="none" strike="noStrike">
                <a:solidFill>
                  <a:schemeClr val="dk1"/>
                </a:solidFill>
                <a:latin typeface="Arial"/>
                <a:ea typeface="Arial"/>
                <a:cs typeface="Arial"/>
                <a:sym typeface="Arial"/>
              </a:rPr>
              <a:t>THÁCH THỨC</a:t>
            </a:r>
            <a:endParaRPr/>
          </a:p>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Tập dữ liệu có 284.807 giao dịch thẻ tín dụng, nhưng chỉ có 492 ca gian lận ( chiếm 0.17%)</a:t>
            </a:r>
            <a:endParaRPr/>
          </a:p>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=&gt; Dữ liệu mất cân bằng</a:t>
            </a:r>
            <a:endParaRPr b="0" i="0" sz="2400" u="none" cap="none" strike="noStrike">
              <a:solidFill>
                <a:schemeClr val="dk1"/>
              </a:solidFill>
              <a:latin typeface="Arial"/>
              <a:ea typeface="Arial"/>
              <a:cs typeface="Arial"/>
              <a:sym typeface="Arial"/>
            </a:endParaRPr>
          </a:p>
        </p:txBody>
      </p:sp>
      <p:sp>
        <p:nvSpPr>
          <p:cNvPr id="174" name="Google Shape;174;p8"/>
          <p:cNvSpPr/>
          <p:nvPr/>
        </p:nvSpPr>
        <p:spPr>
          <a:xfrm>
            <a:off x="7404525" y="814207"/>
            <a:ext cx="3696093" cy="1587686"/>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Dạy mô hình học cách nhận diện các ca gian lận thay vì học các ca không gian lận.</a:t>
            </a:r>
            <a:endParaRPr/>
          </a:p>
        </p:txBody>
      </p:sp>
      <p:cxnSp>
        <p:nvCxnSpPr>
          <p:cNvPr id="175" name="Google Shape;175;p8"/>
          <p:cNvCxnSpPr/>
          <p:nvPr/>
        </p:nvCxnSpPr>
        <p:spPr>
          <a:xfrm flipH="1" rot="10800000">
            <a:off x="4513006" y="1608050"/>
            <a:ext cx="2497394" cy="781189"/>
          </a:xfrm>
          <a:prstGeom prst="straightConnector1">
            <a:avLst/>
          </a:prstGeom>
          <a:noFill/>
          <a:ln cap="flat" cmpd="sng" w="57150">
            <a:solidFill>
              <a:schemeClr val="dk1"/>
            </a:solidFill>
            <a:prstDash val="solid"/>
            <a:miter lim="8000"/>
            <a:headEnd len="sm" w="sm" type="none"/>
            <a:tailEnd len="med" w="med" type="triangle"/>
          </a:ln>
        </p:spPr>
      </p:cxnSp>
      <p:cxnSp>
        <p:nvCxnSpPr>
          <p:cNvPr id="176" name="Google Shape;176;p8"/>
          <p:cNvCxnSpPr/>
          <p:nvPr/>
        </p:nvCxnSpPr>
        <p:spPr>
          <a:xfrm>
            <a:off x="4513006" y="3428999"/>
            <a:ext cx="2497394" cy="0"/>
          </a:xfrm>
          <a:prstGeom prst="straightConnector1">
            <a:avLst/>
          </a:prstGeom>
          <a:noFill/>
          <a:ln cap="flat" cmpd="sng" w="57150">
            <a:solidFill>
              <a:schemeClr val="dk1"/>
            </a:solidFill>
            <a:prstDash val="solid"/>
            <a:miter lim="8000"/>
            <a:headEnd len="sm" w="sm" type="none"/>
            <a:tailEnd len="med" w="med" type="triangle"/>
          </a:ln>
        </p:spPr>
      </p:cxnSp>
      <p:sp>
        <p:nvSpPr>
          <p:cNvPr id="177" name="Google Shape;177;p8"/>
          <p:cNvSpPr/>
          <p:nvPr/>
        </p:nvSpPr>
        <p:spPr>
          <a:xfrm>
            <a:off x="7404526" y="2779817"/>
            <a:ext cx="3696093" cy="1457883"/>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1. Giữ lại toàn bộ 492 mẫu gian lận.</a:t>
            </a:r>
            <a:endParaRPr/>
          </a:p>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2. Trích ngẫu nhiên các mẫu hợp lệ (~492 mẫu).</a:t>
            </a:r>
            <a:endParaRPr/>
          </a:p>
        </p:txBody>
      </p:sp>
      <p:sp>
        <p:nvSpPr>
          <p:cNvPr id="178" name="Google Shape;178;p8"/>
          <p:cNvSpPr/>
          <p:nvPr/>
        </p:nvSpPr>
        <p:spPr>
          <a:xfrm>
            <a:off x="7404526" y="4600769"/>
            <a:ext cx="3696093" cy="1298362"/>
          </a:xfrm>
          <a:prstGeom prst="roundRect">
            <a:avLst>
              <a:gd fmla="val 5996" name="adj"/>
            </a:avLst>
          </a:prstGeom>
          <a:solidFill>
            <a:schemeClr val="lt1"/>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400" u="none" cap="none" strike="noStrike">
                <a:solidFill>
                  <a:schemeClr val="dk1"/>
                </a:solidFill>
                <a:latin typeface="Arial"/>
                <a:ea typeface="Arial"/>
                <a:cs typeface="Arial"/>
                <a:sym typeface="Arial"/>
              </a:rPr>
              <a:t>Tạo ra tập dữ liệu huấn luyện mới đạt tỷ lệ 50/50.</a:t>
            </a:r>
            <a:endParaRPr/>
          </a:p>
        </p:txBody>
      </p:sp>
      <p:cxnSp>
        <p:nvCxnSpPr>
          <p:cNvPr id="179" name="Google Shape;179;p8"/>
          <p:cNvCxnSpPr/>
          <p:nvPr/>
        </p:nvCxnSpPr>
        <p:spPr>
          <a:xfrm>
            <a:off x="4513006" y="4600768"/>
            <a:ext cx="2497394" cy="777477"/>
          </a:xfrm>
          <a:prstGeom prst="straightConnector1">
            <a:avLst/>
          </a:prstGeom>
          <a:noFill/>
          <a:ln cap="flat" cmpd="sng" w="57150">
            <a:solidFill>
              <a:schemeClr val="dk1"/>
            </a:solidFill>
            <a:prstDash val="solid"/>
            <a:miter lim="8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9"/>
          <p:cNvSpPr txBox="1"/>
          <p:nvPr>
            <p:ph type="title"/>
          </p:nvPr>
        </p:nvSpPr>
        <p:spPr>
          <a:xfrm>
            <a:off x="0" y="0"/>
            <a:ext cx="12192000"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2: PHÁT HIỆN GIAO DỊCH GIAN LẬN</a:t>
            </a:r>
            <a:endParaRPr/>
          </a:p>
        </p:txBody>
      </p:sp>
      <p:pic>
        <p:nvPicPr>
          <p:cNvPr id="186" name="Google Shape;186;p9"/>
          <p:cNvPicPr preferRelativeResize="0"/>
          <p:nvPr/>
        </p:nvPicPr>
        <p:blipFill rotWithShape="1">
          <a:blip r:embed="rId3">
            <a:alphaModFix/>
          </a:blip>
          <a:srcRect b="0" l="0" r="0" t="0"/>
          <a:stretch/>
        </p:blipFill>
        <p:spPr>
          <a:xfrm>
            <a:off x="2862378" y="1277757"/>
            <a:ext cx="6467244" cy="5187387"/>
          </a:xfrm>
          <a:prstGeom prst="rect">
            <a:avLst/>
          </a:prstGeom>
          <a:noFill/>
          <a:ln>
            <a:noFill/>
          </a:ln>
        </p:spPr>
      </p:pic>
      <p:sp>
        <p:nvSpPr>
          <p:cNvPr id="187" name="Google Shape;187;p9"/>
          <p:cNvSpPr txBox="1"/>
          <p:nvPr/>
        </p:nvSpPr>
        <p:spPr>
          <a:xfrm>
            <a:off x="2862379" y="638879"/>
            <a:ext cx="6467244" cy="721291"/>
          </a:xfrm>
          <a:prstGeom prst="rect">
            <a:avLst/>
          </a:prstGeom>
          <a:noFill/>
          <a:ln>
            <a:noFill/>
          </a:ln>
        </p:spPr>
        <p:txBody>
          <a:bodyPr anchorCtr="0" anchor="ctr" bIns="45700" lIns="91425" spcFirstLastPara="1" rIns="91425" wrap="square" tIns="45700">
            <a:normAutofit fontScale="97500"/>
          </a:bodyPr>
          <a:lstStyle/>
          <a:p>
            <a:pPr indent="0" lvl="0" marL="0" marR="0" rtl="0" algn="ctr">
              <a:lnSpc>
                <a:spcPct val="90000"/>
              </a:lnSpc>
              <a:spcBef>
                <a:spcPts val="0"/>
              </a:spcBef>
              <a:spcAft>
                <a:spcPts val="0"/>
              </a:spcAft>
              <a:buClr>
                <a:schemeClr val="dk1"/>
              </a:buClr>
              <a:buSzPct val="100000"/>
              <a:buFont typeface="Times New Roman"/>
              <a:buNone/>
            </a:pPr>
            <a:r>
              <a:rPr b="1" i="0" lang="en-US" sz="2800" u="none" cap="none" strike="noStrike">
                <a:solidFill>
                  <a:schemeClr val="dk1"/>
                </a:solidFill>
                <a:latin typeface="Times New Roman"/>
                <a:ea typeface="Times New Roman"/>
                <a:cs typeface="Times New Roman"/>
                <a:sym typeface="Times New Roman"/>
              </a:rPr>
              <a:t>Random Under Sampling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txBox="1"/>
          <p:nvPr>
            <p:ph type="title"/>
          </p:nvPr>
        </p:nvSpPr>
        <p:spPr>
          <a:xfrm>
            <a:off x="0" y="0"/>
            <a:ext cx="12192000"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2: PHÁT HIỆN GIAO DỊCH GIAN LẬN</a:t>
            </a:r>
            <a:endParaRPr/>
          </a:p>
        </p:txBody>
      </p:sp>
      <p:pic>
        <p:nvPicPr>
          <p:cNvPr id="194" name="Google Shape;194;p10"/>
          <p:cNvPicPr preferRelativeResize="0"/>
          <p:nvPr/>
        </p:nvPicPr>
        <p:blipFill rotWithShape="1">
          <a:blip r:embed="rId3">
            <a:alphaModFix/>
          </a:blip>
          <a:srcRect b="0" l="0" r="0" t="0"/>
          <a:stretch/>
        </p:blipFill>
        <p:spPr>
          <a:xfrm>
            <a:off x="2455592" y="721291"/>
            <a:ext cx="7280815" cy="5668728"/>
          </a:xfrm>
          <a:prstGeom prst="rect">
            <a:avLst/>
          </a:prstGeom>
          <a:noFill/>
          <a:ln>
            <a:noFill/>
          </a:ln>
        </p:spPr>
      </p:pic>
      <p:pic>
        <p:nvPicPr>
          <p:cNvPr id="195" name="Google Shape;195;p10"/>
          <p:cNvPicPr preferRelativeResize="0"/>
          <p:nvPr/>
        </p:nvPicPr>
        <p:blipFill rotWithShape="1">
          <a:blip r:embed="rId4">
            <a:alphaModFix/>
          </a:blip>
          <a:srcRect b="0" l="0" r="0" t="0"/>
          <a:stretch/>
        </p:blipFill>
        <p:spPr>
          <a:xfrm>
            <a:off x="2459475" y="721291"/>
            <a:ext cx="7276932" cy="56687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pic>
        <p:nvPicPr>
          <p:cNvPr id="202" name="Google Shape;202;p11"/>
          <p:cNvPicPr preferRelativeResize="0"/>
          <p:nvPr/>
        </p:nvPicPr>
        <p:blipFill rotWithShape="1">
          <a:blip r:embed="rId3">
            <a:alphaModFix/>
          </a:blip>
          <a:srcRect b="0" l="0" r="0" t="0"/>
          <a:stretch/>
        </p:blipFill>
        <p:spPr>
          <a:xfrm>
            <a:off x="995081" y="820894"/>
            <a:ext cx="9940543" cy="5216211"/>
          </a:xfrm>
          <a:prstGeom prst="rect">
            <a:avLst/>
          </a:prstGeom>
          <a:noFill/>
          <a:ln>
            <a:noFill/>
          </a:ln>
        </p:spPr>
      </p:pic>
      <p:sp>
        <p:nvSpPr>
          <p:cNvPr id="203" name="Google Shape;203;p11"/>
          <p:cNvSpPr txBox="1"/>
          <p:nvPr/>
        </p:nvSpPr>
        <p:spPr>
          <a:xfrm>
            <a:off x="91962" y="6037105"/>
            <a:ext cx="12100037" cy="44985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Tổng bình phương sai số (SSE)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2"/>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sp>
        <p:nvSpPr>
          <p:cNvPr id="210" name="Google Shape;210;p12"/>
          <p:cNvSpPr txBox="1"/>
          <p:nvPr/>
        </p:nvSpPr>
        <p:spPr>
          <a:xfrm>
            <a:off x="91962" y="6037105"/>
            <a:ext cx="12100037" cy="44985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Silhouette score</a:t>
            </a:r>
            <a:endParaRPr/>
          </a:p>
        </p:txBody>
      </p:sp>
      <p:pic>
        <p:nvPicPr>
          <p:cNvPr id="211" name="Google Shape;211;p12"/>
          <p:cNvPicPr preferRelativeResize="0"/>
          <p:nvPr/>
        </p:nvPicPr>
        <p:blipFill rotWithShape="1">
          <a:blip r:embed="rId3">
            <a:alphaModFix/>
          </a:blip>
          <a:srcRect b="0" l="0" r="0" t="0"/>
          <a:stretch/>
        </p:blipFill>
        <p:spPr>
          <a:xfrm>
            <a:off x="1248323" y="832232"/>
            <a:ext cx="9695353" cy="52048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3"/>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pic>
        <p:nvPicPr>
          <p:cNvPr id="218" name="Google Shape;218;p13"/>
          <p:cNvPicPr preferRelativeResize="0"/>
          <p:nvPr/>
        </p:nvPicPr>
        <p:blipFill rotWithShape="1">
          <a:blip r:embed="rId3">
            <a:alphaModFix/>
          </a:blip>
          <a:srcRect b="0" l="0" r="0" t="0"/>
          <a:stretch/>
        </p:blipFill>
        <p:spPr>
          <a:xfrm>
            <a:off x="234836" y="1179309"/>
            <a:ext cx="11722327" cy="4499381"/>
          </a:xfrm>
          <a:prstGeom prst="rect">
            <a:avLst/>
          </a:prstGeom>
          <a:noFill/>
          <a:ln>
            <a:noFill/>
          </a:ln>
        </p:spPr>
      </p:pic>
      <p:sp>
        <p:nvSpPr>
          <p:cNvPr id="219" name="Google Shape;219;p13"/>
          <p:cNvSpPr txBox="1"/>
          <p:nvPr/>
        </p:nvSpPr>
        <p:spPr>
          <a:xfrm>
            <a:off x="91963" y="5810963"/>
            <a:ext cx="12100037" cy="44985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Đặc điểm nhân khẩu học</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4"/>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pic>
        <p:nvPicPr>
          <p:cNvPr id="226" name="Google Shape;226;p14"/>
          <p:cNvPicPr preferRelativeResize="0"/>
          <p:nvPr/>
        </p:nvPicPr>
        <p:blipFill rotWithShape="1">
          <a:blip r:embed="rId3">
            <a:alphaModFix/>
          </a:blip>
          <a:srcRect b="0" l="0" r="0" t="0"/>
          <a:stretch/>
        </p:blipFill>
        <p:spPr>
          <a:xfrm>
            <a:off x="295828" y="1615687"/>
            <a:ext cx="11600344" cy="3626625"/>
          </a:xfrm>
          <a:prstGeom prst="rect">
            <a:avLst/>
          </a:prstGeom>
          <a:noFill/>
          <a:ln>
            <a:noFill/>
          </a:ln>
        </p:spPr>
      </p:pic>
      <p:sp>
        <p:nvSpPr>
          <p:cNvPr id="227" name="Google Shape;227;p14"/>
          <p:cNvSpPr txBox="1"/>
          <p:nvPr/>
        </p:nvSpPr>
        <p:spPr>
          <a:xfrm>
            <a:off x="91963" y="5358679"/>
            <a:ext cx="12100037" cy="44985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Đặc điểm tài chính liên quan đến khả năng chấp nhận rủi ro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5"/>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pic>
        <p:nvPicPr>
          <p:cNvPr id="234" name="Google Shape;234;p15"/>
          <p:cNvPicPr preferRelativeResize="0"/>
          <p:nvPr/>
        </p:nvPicPr>
        <p:blipFill rotWithShape="1">
          <a:blip r:embed="rId3">
            <a:alphaModFix/>
          </a:blip>
          <a:srcRect b="0" l="0" r="0" t="0"/>
          <a:stretch/>
        </p:blipFill>
        <p:spPr>
          <a:xfrm>
            <a:off x="2386602" y="858943"/>
            <a:ext cx="7418795" cy="565241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PHÂN CỤM CÁC NHÓM ĐẦU TƯ</a:t>
            </a:r>
            <a:endParaRPr/>
          </a:p>
        </p:txBody>
      </p:sp>
      <p:pic>
        <p:nvPicPr>
          <p:cNvPr id="241" name="Google Shape;241;p16"/>
          <p:cNvPicPr preferRelativeResize="0"/>
          <p:nvPr/>
        </p:nvPicPr>
        <p:blipFill rotWithShape="1">
          <a:blip r:embed="rId3">
            <a:alphaModFix/>
          </a:blip>
          <a:srcRect b="0" l="0" r="0" t="0"/>
          <a:stretch/>
        </p:blipFill>
        <p:spPr>
          <a:xfrm>
            <a:off x="328609" y="1986052"/>
            <a:ext cx="11534781" cy="28858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48" name="Google Shape;248;p17"/>
          <p:cNvPicPr preferRelativeResize="0"/>
          <p:nvPr/>
        </p:nvPicPr>
        <p:blipFill rotWithShape="1">
          <a:blip r:embed="rId3">
            <a:alphaModFix/>
          </a:blip>
          <a:srcRect b="0" l="0" r="0" t="0"/>
          <a:stretch/>
        </p:blipFill>
        <p:spPr>
          <a:xfrm>
            <a:off x="0" y="2253523"/>
            <a:ext cx="12192000" cy="23509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8"/>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55" name="Google Shape;255;p18"/>
          <p:cNvPicPr preferRelativeResize="0"/>
          <p:nvPr/>
        </p:nvPicPr>
        <p:blipFill rotWithShape="1">
          <a:blip r:embed="rId3">
            <a:alphaModFix/>
          </a:blip>
          <a:srcRect b="0" l="0" r="0" t="0"/>
          <a:stretch/>
        </p:blipFill>
        <p:spPr>
          <a:xfrm>
            <a:off x="2514924" y="829729"/>
            <a:ext cx="7701119" cy="573600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62" name="Google Shape;262;p19"/>
          <p:cNvPicPr preferRelativeResize="0"/>
          <p:nvPr/>
        </p:nvPicPr>
        <p:blipFill rotWithShape="1">
          <a:blip r:embed="rId3">
            <a:alphaModFix/>
          </a:blip>
          <a:srcRect b="0" l="0" r="0" t="0"/>
          <a:stretch/>
        </p:blipFill>
        <p:spPr>
          <a:xfrm>
            <a:off x="2245479" y="812336"/>
            <a:ext cx="7701041" cy="573594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sp>
        <p:nvSpPr>
          <p:cNvPr id="269" name="Google Shape;269;p20"/>
          <p:cNvSpPr txBox="1"/>
          <p:nvPr/>
        </p:nvSpPr>
        <p:spPr>
          <a:xfrm>
            <a:off x="221226" y="1654542"/>
            <a:ext cx="11749547" cy="452431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AGE: Có 6 nhóm tuổi (1 đại diện cho tuổi dưới 35 và 6 đại diện cho tuổi trên 75)</a:t>
            </a:r>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EDUC: Có 4 nhóm học vấn (1 đại diện cho không tốt nghiệp trung học và 4 đại diện cho bằng đại học)</a:t>
            </a:r>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MARRIED: Thể hiện tình trạng hôn nhân (1 đại diện cho đã kết hôn và 2 đại diện cho chưa kết hôn)</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OCCU: Thể hiện nhóm nghề nghiệp (1 đại diện cho nhóm quản lý và 4 đại diện cho thất nghiệp)</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KIDS: Thể hiện số lượng con cái.</a:t>
            </a:r>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NWCAT: Thể hiện nhóm giá trị tài sản ròng</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INCCL: Đại diện cho hạng mục thu nhập</a:t>
            </a:r>
            <a:endParaRPr b="0" i="0" sz="2400" u="none" cap="none" strike="noStrike">
              <a:solidFill>
                <a:srgbClr val="000000"/>
              </a:solidFill>
              <a:latin typeface="Times New Roman"/>
              <a:ea typeface="Times New Roman"/>
              <a:cs typeface="Times New Roman"/>
              <a:sym typeface="Times New Roman"/>
            </a:endParaRPr>
          </a:p>
          <a:p>
            <a:pPr indent="0" lvl="0" marL="0" marR="0" rtl="0" algn="just">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 RISK: Đại diện cho mức độ sẵn sàng chấp nhận rủi ro trên thang điểm từ 1 đến 4, trong đó 1 đại diện cho mức độ sẵn sàng chấp nhận rủi ro cao nhất</a:t>
            </a:r>
            <a:endParaRPr b="0" i="0" sz="2400" u="none" cap="none" strike="noStrike">
              <a:solidFill>
                <a:srgbClr val="000000"/>
              </a:solidFill>
              <a:latin typeface="Times New Roman"/>
              <a:ea typeface="Times New Roman"/>
              <a:cs typeface="Times New Roman"/>
              <a:sym typeface="Times New Roman"/>
            </a:endParaRPr>
          </a:p>
        </p:txBody>
      </p:sp>
      <p:sp>
        <p:nvSpPr>
          <p:cNvPr id="270" name="Google Shape;270;p20"/>
          <p:cNvSpPr txBox="1"/>
          <p:nvPr/>
        </p:nvSpPr>
        <p:spPr>
          <a:xfrm>
            <a:off x="221226" y="721291"/>
            <a:ext cx="11749546"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Để chọn các đặc trưng có ý nghĩa, nhóm thực hiện chỉ giữ lại các đặc trưng có ý nghĩa:</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77" name="Google Shape;277;p21"/>
          <p:cNvPicPr preferRelativeResize="0"/>
          <p:nvPr/>
        </p:nvPicPr>
        <p:blipFill rotWithShape="1">
          <a:blip r:embed="rId3">
            <a:alphaModFix/>
          </a:blip>
          <a:srcRect b="0" l="0" r="0" t="0"/>
          <a:stretch/>
        </p:blipFill>
        <p:spPr>
          <a:xfrm>
            <a:off x="3049629" y="721291"/>
            <a:ext cx="6092742" cy="58917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2"/>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84" name="Google Shape;284;p22"/>
          <p:cNvPicPr preferRelativeResize="0"/>
          <p:nvPr/>
        </p:nvPicPr>
        <p:blipFill rotWithShape="1">
          <a:blip r:embed="rId3">
            <a:alphaModFix/>
          </a:blip>
          <a:srcRect b="0" l="0" r="0" t="0"/>
          <a:stretch/>
        </p:blipFill>
        <p:spPr>
          <a:xfrm>
            <a:off x="917389" y="721291"/>
            <a:ext cx="10357222" cy="556583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91" name="Google Shape;291;p23"/>
          <p:cNvPicPr preferRelativeResize="0"/>
          <p:nvPr/>
        </p:nvPicPr>
        <p:blipFill rotWithShape="1">
          <a:blip r:embed="rId3">
            <a:alphaModFix/>
          </a:blip>
          <a:srcRect b="0" l="0" r="0" t="0"/>
          <a:stretch/>
        </p:blipFill>
        <p:spPr>
          <a:xfrm>
            <a:off x="1686894" y="721291"/>
            <a:ext cx="8818211" cy="585517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txBox="1"/>
          <p:nvPr>
            <p:ph type="title"/>
          </p:nvPr>
        </p:nvSpPr>
        <p:spPr>
          <a:xfrm>
            <a:off x="0" y="0"/>
            <a:ext cx="12663948"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BÀI TOÁN 3: ROBO-ADVISOR</a:t>
            </a:r>
            <a:endParaRPr/>
          </a:p>
        </p:txBody>
      </p:sp>
      <p:pic>
        <p:nvPicPr>
          <p:cNvPr id="298" name="Google Shape;298;p24"/>
          <p:cNvPicPr preferRelativeResize="0"/>
          <p:nvPr/>
        </p:nvPicPr>
        <p:blipFill rotWithShape="1">
          <a:blip r:embed="rId3">
            <a:alphaModFix/>
          </a:blip>
          <a:srcRect b="0" l="0" r="0" t="0"/>
          <a:stretch/>
        </p:blipFill>
        <p:spPr>
          <a:xfrm>
            <a:off x="278821" y="721291"/>
            <a:ext cx="11634358" cy="586056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KẾT LUẬN</a:t>
            </a:r>
            <a:endParaRPr sz="3600">
              <a:latin typeface="Times New Roman"/>
              <a:ea typeface="Times New Roman"/>
              <a:cs typeface="Times New Roman"/>
              <a:sym typeface="Times New Roman"/>
            </a:endParaRPr>
          </a:p>
        </p:txBody>
      </p:sp>
      <p:sp>
        <p:nvSpPr>
          <p:cNvPr id="304" name="Google Shape;304;p25"/>
          <p:cNvSpPr/>
          <p:nvPr/>
        </p:nvSpPr>
        <p:spPr>
          <a:xfrm>
            <a:off x="115437" y="1242401"/>
            <a:ext cx="11961126" cy="454983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Tập thẻ tín dụng (Kaggle) đã bị ẩn danh hóa bằng PCA (các biến V1-V28), gây khó khăn trong việc giải thích ý nghĩa kinh tế cho nghiệp vụ ngân hàng.</a:t>
            </a:r>
            <a:endParaRPr/>
          </a:p>
          <a:p>
            <a:pPr indent="-457200" lvl="0" marL="457200" marR="0" rtl="0" algn="just">
              <a:lnSpc>
                <a:spcPct val="15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Dữ liệu khảo sát SCF phụ thuộc vào tính trung thực của người điền, có thể chứa sai lệch chủ quan</a:t>
            </a:r>
            <a:endParaRPr b="0" i="0" sz="2800" u="none" cap="none" strike="noStrike">
              <a:solidFill>
                <a:schemeClr val="dk1"/>
              </a:solidFill>
              <a:latin typeface="Calibri"/>
              <a:ea typeface="Calibri"/>
              <a:cs typeface="Calibri"/>
              <a:sym typeface="Calibri"/>
            </a:endParaRPr>
          </a:p>
          <a:p>
            <a:pPr indent="-457200" lvl="0" marL="457200" marR="0" rtl="0" algn="just">
              <a:lnSpc>
                <a:spcPct val="15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Kỹ thuật Random Under-sampling (BÀI TOÁN 2) phải vứt bỏ một lượng lớn dữ liệu bình thường, có thể làm mất đi các đặc trưng hành vi giao dịch hợp lệ quan trọng</a:t>
            </a:r>
            <a:endParaRPr b="0" i="0" sz="2800" u="none" cap="none" strike="noStrike">
              <a:solidFill>
                <a:schemeClr val="dk1"/>
              </a:solidFill>
              <a:latin typeface="Calibri"/>
              <a:ea typeface="Calibri"/>
              <a:cs typeface="Calibri"/>
              <a:sym typeface="Calibri"/>
            </a:endParaRPr>
          </a:p>
        </p:txBody>
      </p:sp>
      <p:sp>
        <p:nvSpPr>
          <p:cNvPr id="305" name="Google Shape;305;p25"/>
          <p:cNvSpPr txBox="1"/>
          <p:nvPr/>
        </p:nvSpPr>
        <p:spPr>
          <a:xfrm>
            <a:off x="115437" y="692138"/>
            <a:ext cx="10143653" cy="7212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HẠN CHẾ</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type="title"/>
          </p:nvPr>
        </p:nvSpPr>
        <p:spPr>
          <a:xfrm>
            <a:off x="0" y="0"/>
            <a:ext cx="10143653" cy="72129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solidFill>
                  <a:schemeClr val="dk1"/>
                </a:solidFill>
                <a:latin typeface="Times New Roman"/>
                <a:ea typeface="Times New Roman"/>
                <a:cs typeface="Times New Roman"/>
                <a:sym typeface="Times New Roman"/>
              </a:rPr>
              <a:t>KẾT LUẬN</a:t>
            </a:r>
            <a:endParaRPr sz="3600">
              <a:latin typeface="Times New Roman"/>
              <a:ea typeface="Times New Roman"/>
              <a:cs typeface="Times New Roman"/>
              <a:sym typeface="Times New Roman"/>
            </a:endParaRPr>
          </a:p>
        </p:txBody>
      </p:sp>
      <p:sp>
        <p:nvSpPr>
          <p:cNvPr id="311" name="Google Shape;311;p26"/>
          <p:cNvSpPr/>
          <p:nvPr/>
        </p:nvSpPr>
        <p:spPr>
          <a:xfrm>
            <a:off x="115437" y="1190341"/>
            <a:ext cx="11961126" cy="1968103"/>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5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Cập nhật dữ liệu tín dụng mới nhất sau đại dịch thay vì tập Lending Club cũ.</a:t>
            </a:r>
            <a:endParaRPr/>
          </a:p>
          <a:p>
            <a:pPr indent="-457200" lvl="0" marL="457200" marR="0" rtl="0" algn="just">
              <a:lnSpc>
                <a:spcPct val="15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Kết nối Web Robo-Advisor với API thị trường chứng khoán thật thay vì chỉ dùng Backtesting trên dữ liệu lịch sử.</a:t>
            </a:r>
            <a:endParaRPr b="0" i="0" sz="2800" u="none" cap="none" strike="noStrike">
              <a:solidFill>
                <a:schemeClr val="dk1"/>
              </a:solidFill>
              <a:latin typeface="Calibri"/>
              <a:ea typeface="Calibri"/>
              <a:cs typeface="Calibri"/>
              <a:sym typeface="Calibri"/>
            </a:endParaRPr>
          </a:p>
        </p:txBody>
      </p:sp>
      <p:sp>
        <p:nvSpPr>
          <p:cNvPr id="312" name="Google Shape;312;p26"/>
          <p:cNvSpPr txBox="1"/>
          <p:nvPr/>
        </p:nvSpPr>
        <p:spPr>
          <a:xfrm>
            <a:off x="115437" y="692138"/>
            <a:ext cx="10143653" cy="7212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HƯỚNG PHÁT TRIỂN</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6" name="Shape 31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2026-04-05T13:33:50Z</dcterms:created>
  <dc:creator>Nguyen Minh Le</dc:creator>
</cp:coreProperties>
</file>